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075159b6a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075159b6a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075159b6a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075159b6a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075159b6a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075159b6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075159b6a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075159b6a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075159b6a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075159b6a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075159b6a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075159b6a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638150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Bank Customer Churn 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3529951"/>
            <a:ext cx="81159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Presented by:</a:t>
            </a:r>
            <a:r>
              <a:rPr lang="en" sz="2400">
                <a:solidFill>
                  <a:schemeClr val="dk2"/>
                </a:solidFill>
              </a:rPr>
              <a:t> Shota Terajima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390525" y="3968676"/>
            <a:ext cx="81159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Last Updated</a:t>
            </a:r>
            <a:r>
              <a:rPr b="1" lang="en" sz="2400">
                <a:solidFill>
                  <a:schemeClr val="dk2"/>
                </a:solidFill>
              </a:rPr>
              <a:t>:</a:t>
            </a:r>
            <a:r>
              <a:rPr lang="en" sz="2400">
                <a:solidFill>
                  <a:schemeClr val="dk2"/>
                </a:solidFill>
              </a:rPr>
              <a:t> December 15th, 2025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/>
        </p:nvSpPr>
        <p:spPr>
          <a:xfrm>
            <a:off x="762000" y="766100"/>
            <a:ext cx="7620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Bank Customer Churn </a:t>
            </a:r>
            <a:endParaRPr b="1" sz="35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1069500" y="2173013"/>
            <a:ext cx="7005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-&gt;  Objective </a:t>
            </a:r>
            <a:endParaRPr b="1" sz="2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069500" y="2634725"/>
            <a:ext cx="7005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-&gt;  Present Data</a:t>
            </a:r>
            <a:endParaRPr b="1" sz="2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1069500" y="3096425"/>
            <a:ext cx="7005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-&gt;  </a:t>
            </a:r>
            <a:r>
              <a:rPr b="1" lang="en" sz="2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Conclusion</a:t>
            </a:r>
            <a:r>
              <a:rPr b="1" lang="en" sz="2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2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460950" y="1803075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900"/>
              <a:t>What are we talking about </a:t>
            </a:r>
            <a:endParaRPr b="1" sz="6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/>
        </p:nvSpPr>
        <p:spPr>
          <a:xfrm>
            <a:off x="1078350" y="358925"/>
            <a:ext cx="69873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Objectives </a:t>
            </a:r>
            <a:endParaRPr b="1" sz="5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870600" y="2458300"/>
            <a:ext cx="7402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Roboto"/>
                <a:ea typeface="Roboto"/>
                <a:cs typeface="Roboto"/>
                <a:sym typeface="Roboto"/>
              </a:rPr>
              <a:t>Identify which customer </a:t>
            </a:r>
            <a:r>
              <a:rPr b="1" lang="en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factors</a:t>
            </a:r>
            <a:r>
              <a:rPr b="1" lang="en" sz="2800"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lang="en" sz="28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segments </a:t>
            </a:r>
            <a:r>
              <a:rPr b="1" lang="en" sz="2800">
                <a:latin typeface="Roboto"/>
                <a:ea typeface="Roboto"/>
                <a:cs typeface="Roboto"/>
                <a:sym typeface="Roboto"/>
              </a:rPr>
              <a:t>are most strongly associated with </a:t>
            </a:r>
            <a:r>
              <a:rPr b="1" lang="en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churn</a:t>
            </a:r>
            <a:r>
              <a:rPr b="1"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1" sz="2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60950" y="1647825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/>
              <a:t>Present Data </a:t>
            </a:r>
            <a:endParaRPr sz="6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 title="Churnheatmap_n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7525" y="1024925"/>
            <a:ext cx="5177236" cy="345064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417525" y="247925"/>
            <a:ext cx="698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Balance and Customer tenure </a:t>
            </a:r>
            <a:endParaRPr b="1"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730675" y="1750200"/>
            <a:ext cx="294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Little relationship between churn rate and customer tenure.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730675" y="2905675"/>
            <a:ext cx="2949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Customers with balances below $1,000 have a </a:t>
            </a:r>
            <a:r>
              <a:rPr b="1" lang="en" sz="1800">
                <a:solidFill>
                  <a:schemeClr val="accent3"/>
                </a:solidFill>
              </a:rPr>
              <a:t>high churn rate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/>
        </p:nvSpPr>
        <p:spPr>
          <a:xfrm>
            <a:off x="417525" y="247925"/>
            <a:ext cx="698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Cash flow </a:t>
            </a:r>
            <a:endParaRPr b="1"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730675" y="1750200"/>
            <a:ext cx="2949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Customers with no decline in cash flow have a </a:t>
            </a:r>
            <a:r>
              <a:rPr b="1" lang="en" sz="1800">
                <a:solidFill>
                  <a:schemeClr val="accent2"/>
                </a:solidFill>
              </a:rPr>
              <a:t>lower churn rate</a:t>
            </a:r>
            <a:r>
              <a:rPr lang="en" sz="1800"/>
              <a:t>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730675" y="2905675"/>
            <a:ext cx="2949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Customers with declining cash flow have a </a:t>
            </a:r>
            <a:r>
              <a:rPr b="1" lang="en" sz="1800">
                <a:solidFill>
                  <a:schemeClr val="accent3"/>
                </a:solidFill>
              </a:rPr>
              <a:t>significantly higher churn rate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9" name="Google Shape;109;p19" title="Cashflowbar_new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350" y="853050"/>
            <a:ext cx="4583194" cy="343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417525" y="247925"/>
            <a:ext cx="698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Cash flow and Incoming transactions</a:t>
            </a:r>
            <a:endParaRPr b="1"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618000" y="1780925"/>
            <a:ext cx="2915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solidFill>
                  <a:schemeClr val="accent6"/>
                </a:solidFill>
              </a:rPr>
              <a:t>Positive correlation</a:t>
            </a:r>
            <a:r>
              <a:rPr b="1" lang="en" sz="1800">
                <a:solidFill>
                  <a:schemeClr val="accent2"/>
                </a:solidFill>
              </a:rPr>
              <a:t> </a:t>
            </a:r>
            <a:r>
              <a:rPr lang="en" sz="1800"/>
              <a:t>between cash flow and incoming transactions.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20" title="scatterplot_new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9525" y="1128175"/>
            <a:ext cx="5114399" cy="340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460950" y="1647825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/>
              <a:t>Conclusion </a:t>
            </a:r>
            <a:r>
              <a:rPr lang="en" sz="6700"/>
              <a:t> </a:t>
            </a:r>
            <a:endParaRPr sz="6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/>
        </p:nvSpPr>
        <p:spPr>
          <a:xfrm>
            <a:off x="409050" y="2626050"/>
            <a:ext cx="249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Customers with lower </a:t>
            </a:r>
            <a:r>
              <a:rPr b="1"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balances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have a </a:t>
            </a:r>
            <a:r>
              <a:rPr b="1"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higher likelihood of churn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Conclusion</a:t>
            </a:r>
            <a:endParaRPr b="1" sz="3300"/>
          </a:p>
        </p:txBody>
      </p:sp>
      <p:sp>
        <p:nvSpPr>
          <p:cNvPr id="128" name="Google Shape;128;p22"/>
          <p:cNvSpPr txBox="1"/>
          <p:nvPr/>
        </p:nvSpPr>
        <p:spPr>
          <a:xfrm>
            <a:off x="1094100" y="2340900"/>
            <a:ext cx="6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1122000" y="1076250"/>
            <a:ext cx="1071300" cy="1092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6829800" y="1076250"/>
            <a:ext cx="1071300" cy="1092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3975900" y="1076250"/>
            <a:ext cx="1071300" cy="1092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4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3262950" y="2571750"/>
            <a:ext cx="2497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Customers with lower </a:t>
            </a:r>
            <a:r>
              <a:rPr b="1" lang="en" sz="18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incoming transactions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tend to have weaker cash flow, which is associated with a </a:t>
            </a:r>
            <a:r>
              <a:rPr b="1"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higher churn rate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6116850" y="2571750"/>
            <a:ext cx="2497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Evidence suggests that </a:t>
            </a:r>
            <a:r>
              <a:rPr b="1"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current balance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" sz="18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cash flow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incoming transactions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are all related to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customer churn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6380575" y="4604775"/>
            <a:ext cx="374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*Further analysis needed </a:t>
            </a:r>
            <a:endParaRPr b="1"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